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55FFFF"/>
                </a:solidFill>
                <a:latin typeface="Apple SD Gothic Neo"/>
              </a:rPr>
              <a:t>PROGRESS REPORT · 2026-10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514600"/>
            <a:ext cx="1078992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800" b="1">
                <a:solidFill>
                  <a:srgbClr val="E8E8EE"/>
                </a:solidFill>
                <a:latin typeface="Apple SD Gothic Neo"/>
              </a:rPr>
              <a:t>Anthropocene
테크노포실 지층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4340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E8E8EE"/>
                </a:solidFill>
                <a:latin typeface="Apple SD Gothic Neo"/>
              </a:rPr>
              <a:t>방문자가 돌아다니며 흩뿌린 것이, 시간이 지나 지층이 된다.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A9AAE"/>
                </a:solidFill>
                <a:latin typeface="Apple SD Gothic Neo"/>
              </a:rPr>
              <a:t>피드백 반영 · 학술 근거 · 라이브러리 구축 · 이미지 파이프라인 계획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55FFFF"/>
                </a:solidFill>
                <a:latin typeface="Apple SD Gothic Neo"/>
              </a:rPr>
              <a:t>01 ·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E8E8EE"/>
                </a:solidFill>
                <a:latin typeface="Apple SD Gothic Neo"/>
              </a:rPr>
              <a:t>피드백을 받아 방향을 바꿨다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9A9AAE"/>
                </a:solidFill>
                <a:latin typeface="Apple SD Gothic Neo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212080" cy="3017520"/>
          </a:xfrm>
          <a:prstGeom prst="roundRect">
            <a:avLst>
              <a:gd name="adj" fmla="val 4000"/>
            </a:avLst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64207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55"/>
                </a:solidFill>
                <a:latin typeface="Apple SD Gothic Neo"/>
              </a:rPr>
              <a:t>받은 피드백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084831"/>
            <a:ext cx="4846320" cy="23774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E8E8EE"/>
                </a:solidFill>
                <a:latin typeface="Apple SD Gothic Neo"/>
              </a:rPr>
              <a:t>•  별은 좋은 비유가 아니다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E8E8EE"/>
                </a:solidFill>
                <a:latin typeface="Apple SD Gothic Neo"/>
              </a:rPr>
              <a:t>•  방문자는 돌아다니며 동물·플라스틱·전자부품을 흩뿌린다 — 테크노포실 작업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E8E8EE"/>
                </a:solidFill>
                <a:latin typeface="Apple SD Gothic Neo"/>
              </a:rPr>
              <a:t>•  시간이 지나면 지층·미래의 탑뷰에는 오래가는 것이 보인다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E8E8EE"/>
                </a:solidFill>
                <a:latin typeface="Apple SD Gothic Neo"/>
              </a:rPr>
              <a:t>•  "내가 무엇을 남길지는 내가 정할 수 없고, 주어진 수명 동안 돌아다녀볼 뿐"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5422392" cy="3017520"/>
          </a:xfrm>
          <a:prstGeom prst="roundRect">
            <a:avLst>
              <a:gd name="adj" fmla="val 4000"/>
            </a:avLst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64207"/>
            <a:ext cx="5056631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55FFFF"/>
                </a:solidFill>
                <a:latin typeface="Apple SD Gothic Neo"/>
              </a:rPr>
              <a:t>반영한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084831"/>
            <a:ext cx="5056631" cy="23774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E8E8EE"/>
                </a:solidFill>
                <a:latin typeface="Apple SD Gothic Neo"/>
              </a:rPr>
              <a:t>•  별·중력·병합 물리를 걷어내고 '흩뿌림 + 운명' 구조로 교체 (옛 코드는 archive 브랜치에 보존)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E8E8EE"/>
                </a:solidFill>
                <a:latin typeface="Apple SD Gothic Neo"/>
              </a:rPr>
              <a:t>•  배경 별, 태양풍, 파도 제거 — 움직임의 신호는 스프라이트뿐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E8E8EE"/>
                </a:solidFill>
                <a:latin typeface="Apple SD Gothic Neo"/>
              </a:rPr>
              <a:t>•  방문자가 무엇을 뿌릴지는 추첨 (고를 수 없음)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E8E8EE"/>
                </a:solidFill>
                <a:latin typeface="Apple SD Gothic Neo"/>
              </a:rPr>
              <a:t>•  오래가는 재료만 지층에 남는다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800600"/>
            <a:ext cx="10911535" cy="132588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892040"/>
            <a:ext cx="10454335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55FFFF"/>
                </a:solidFill>
                <a:latin typeface="Apple SD Gothic Neo"/>
              </a:rPr>
              <a:t>그 뒤에 내린 결정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E8E8EE"/>
                </a:solidFill>
                <a:latin typeface="Apple SD Gothic Neo"/>
              </a:rPr>
              <a:t>과거(깊은 시간의 지표 화석)는 구현에서 뺀다. 지층에는 방문자가 남긴 것만 쌓인다.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E8E8EE"/>
                </a:solidFill>
                <a:latin typeface="Apple SD Gothic Neo"/>
              </a:rPr>
              <a:t>인위적 유기물(뼈·조개·숯·음식)은 포함한다. 원래 있던 자연물은 제외하지 않고, 사람이 돌아다닐수록 줄어드는 '자연 스톡'으로 둔다.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55FFFF"/>
                </a:solidFill>
                <a:latin typeface="Apple SD Gothic Neo"/>
              </a:rPr>
              <a:t>02 ·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E8E8EE"/>
                </a:solidFill>
                <a:latin typeface="Apple SD Gothic Neo"/>
              </a:rPr>
              <a:t>시스템 구조: 뿌리고, 운명이 정해지고, 쌓인다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9A9AAE"/>
                </a:solidFill>
                <a:latin typeface="Apple SD Gothic Neo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2508427" cy="109728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55FFFF"/>
                </a:solidFill>
                <a:latin typeface="Apple SD Gothic Neo"/>
              </a:rPr>
              <a:t>방문자 이동</a:t>
            </a:r>
          </a:p>
          <a:p>
            <a:pPr algn="ctr"/>
            <a:r>
              <a:rPr sz="1300" b="0">
                <a:solidFill>
                  <a:srgbClr val="9A9AAE"/>
                </a:solidFill>
                <a:latin typeface="Apple SD Gothic Neo"/>
              </a:rPr>
              <a:t>걸음 · 정지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48507" y="2011679"/>
            <a:ext cx="292608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9A9AAE"/>
                </a:solidFill>
                <a:latin typeface="Apple SD Gothic Neo"/>
              </a:rPr>
              <a:t>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1115" y="1645920"/>
            <a:ext cx="2508427" cy="109728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55FFFF"/>
                </a:solidFill>
                <a:latin typeface="Apple SD Gothic Neo"/>
              </a:rPr>
              <a:t>무엇을 뿌릴지 추첨</a:t>
            </a:r>
          </a:p>
          <a:p>
            <a:pPr algn="ctr"/>
            <a:r>
              <a:rPr sz="1300" b="0">
                <a:solidFill>
                  <a:srgbClr val="9A9AAE"/>
                </a:solidFill>
                <a:latin typeface="Apple SD Gothic Neo"/>
              </a:rPr>
              <a:t>이웃 땅의 영향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9543" y="2011679"/>
            <a:ext cx="292608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9A9AAE"/>
                </a:solidFill>
                <a:latin typeface="Apple SD Gothic Neo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2151" y="1645920"/>
            <a:ext cx="2508427" cy="109728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55FFFF"/>
                </a:solidFill>
                <a:latin typeface="Apple SD Gothic Neo"/>
              </a:rPr>
              <a:t>물건의 운명</a:t>
            </a:r>
          </a:p>
          <a:p>
            <a:pPr algn="ctr"/>
            <a:r>
              <a:rPr sz="1300" b="0">
                <a:solidFill>
                  <a:srgbClr val="9A9AAE"/>
                </a:solidFill>
                <a:latin typeface="Apple SD Gothic Neo"/>
              </a:rPr>
              <a:t>분해 · 매몰 · 화석화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0579" y="2011679"/>
            <a:ext cx="292608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9A9AAE"/>
                </a:solidFill>
                <a:latin typeface="Apple SD Gothic Neo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43187" y="1645920"/>
            <a:ext cx="2508427" cy="109728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55FFFF"/>
                </a:solidFill>
                <a:latin typeface="Apple SD Gothic Neo"/>
              </a:rPr>
              <a:t>지층 / 탑뷰</a:t>
            </a:r>
          </a:p>
          <a:p>
            <a:pPr algn="ctr"/>
            <a:r>
              <a:rPr sz="1300" b="0">
                <a:solidFill>
                  <a:srgbClr val="9A9AAE"/>
                </a:solidFill>
                <a:latin typeface="Apple SD Gothic Neo"/>
              </a:rPr>
              <a:t>오래가는 것만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08960"/>
            <a:ext cx="3474720" cy="2926080"/>
          </a:xfrm>
          <a:prstGeom prst="roundRect">
            <a:avLst>
              <a:gd name="adj" fmla="val 4000"/>
            </a:avLst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218688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55FFFF"/>
                </a:solidFill>
                <a:latin typeface="Apple SD Gothic Neo"/>
              </a:rPr>
              <a:t>추첨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639312"/>
            <a:ext cx="310896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레이어(포장재·전자·유기물)의 사전 확률 × 품목 빈도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주변 반경 안에 살아남은 물건이 확률을 이동시킴 (Pólya urn)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→ 앞사람이 만든 땅을 물려받음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108960"/>
            <a:ext cx="3474720" cy="2926080"/>
          </a:xfrm>
          <a:prstGeom prst="roundRect">
            <a:avLst>
              <a:gd name="adj" fmla="val 4000"/>
            </a:avLst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218688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55FFFF"/>
                </a:solidFill>
                <a:latin typeface="Apple SD Gothic Neo"/>
              </a:rPr>
              <a:t>운명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639312"/>
            <a:ext cx="310896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재료마다 수명이 다름 (로그균등)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위에 쌓이면 분해가 50배 느려짐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묻힌 채 시간이 지나면 화석화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소프트 유기물은 1초 안에 사라짐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3108960"/>
            <a:ext cx="3502152" cy="2926080"/>
          </a:xfrm>
          <a:prstGeom prst="roundRect">
            <a:avLst>
              <a:gd name="adj" fmla="val 4000"/>
            </a:avLst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9" y="3218688"/>
            <a:ext cx="313639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55FF55"/>
                </a:solidFill>
                <a:latin typeface="Apple SD Gothic Neo"/>
              </a:rPr>
              <a:t>자연 스톡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9" y="3639312"/>
            <a:ext cx="3136392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칸마다 식물·동물 0~2개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걸음과 쌓인 물건이 '마모 하중'이 됨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하중이 임계값을 넘으면 밀려나 죽은 물질이 됨. 재생 없음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55FFFF"/>
                </a:solidFill>
                <a:latin typeface="Apple SD Gothic Neo"/>
              </a:rPr>
              <a:t>03 · CATALOGUE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E8E8EE"/>
                </a:solidFill>
                <a:latin typeface="Apple SD Gothic Neo"/>
              </a:rPr>
              <a:t>카탈로그 v2: 흩뿌려지는 품목 148종, 스프라이트 290개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9A9AAE"/>
                </a:solidFill>
                <a:latin typeface="Apple SD Gothic Neo"/>
              </a:rP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1091153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7558"/>
                <a:gridCol w="4891377"/>
                <a:gridCol w="1034714"/>
                <a:gridCol w="1316909"/>
                <a:gridCol w="1410974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55FFFF"/>
                          </a:solidFill>
                          <a:latin typeface="Apple SD Gothic Neo"/>
                        </a:rPr>
                        <a:t>레이어</a:t>
                      </a:r>
                    </a:p>
                  </a:txBody>
                  <a:tcPr marL="73152" marR="73152" marT="36576" marB="36576" anchor="ctr">
                    <a:solidFill>
                      <a:srgbClr val="1E1E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55FFFF"/>
                          </a:solidFill>
                          <a:latin typeface="Apple SD Gothic Neo"/>
                        </a:rPr>
                        <a:t>내용</a:t>
                      </a:r>
                    </a:p>
                  </a:txBody>
                  <a:tcPr marL="73152" marR="73152" marT="36576" marB="36576" anchor="ctr">
                    <a:solidFill>
                      <a:srgbClr val="1E1E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55FFFF"/>
                          </a:solidFill>
                          <a:latin typeface="Apple SD Gothic Neo"/>
                        </a:rPr>
                        <a:t>품목</a:t>
                      </a:r>
                    </a:p>
                  </a:txBody>
                  <a:tcPr marL="73152" marR="73152" marT="36576" marB="36576" anchor="ctr">
                    <a:solidFill>
                      <a:srgbClr val="1E1E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55FFFF"/>
                          </a:solidFill>
                          <a:latin typeface="Apple SD Gothic Neo"/>
                        </a:rPr>
                        <a:t>스프라이트</a:t>
                      </a:r>
                    </a:p>
                  </a:txBody>
                  <a:tcPr marL="73152" marR="73152" marT="36576" marB="36576" anchor="ctr">
                    <a:solidFill>
                      <a:srgbClr val="1E1E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55FFFF"/>
                          </a:solidFill>
                          <a:latin typeface="Apple SD Gothic Neo"/>
                        </a:rPr>
                        <a:t>장면 내 비율</a:t>
                      </a:r>
                    </a:p>
                  </a:txBody>
                  <a:tcPr marL="73152" marR="73152" marT="36576" marB="36576" anchor="ctr">
                    <a:solidFill>
                      <a:srgbClr val="1E1E2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8E8EE"/>
                          </a:solidFill>
                          <a:latin typeface="Apple SD Gothic Neo"/>
                        </a:rPr>
                        <a:t>A  포장재·플라스틱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8E8EE"/>
                          </a:solidFill>
                          <a:latin typeface="Apple SD Gothic Neo"/>
                        </a:rPr>
                        <a:t>JRC 2016 유럽 해변 쓰레기 표 기반 (측정 빈도)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8E8EE"/>
                          </a:solidFill>
                          <a:latin typeface="Apple SD Gothic Neo"/>
                        </a:rPr>
                        <a:t>106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8E8EE"/>
                          </a:solidFill>
                          <a:latin typeface="Apple SD Gothic Neo"/>
                        </a:rPr>
                        <a:t>178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8E8EE"/>
                          </a:solidFill>
                          <a:latin typeface="Apple SD Gothic Neo"/>
                        </a:rPr>
                        <a:t>70%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8E8EE"/>
                          </a:solidFill>
                          <a:latin typeface="Apple SD Gothic Neo"/>
                        </a:rPr>
                        <a:t>B  전자제품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8E8EE"/>
                          </a:solidFill>
                          <a:latin typeface="Apple SD Gothic Neo"/>
                        </a:rPr>
                        <a:t>기기·기판 등 (직접 구성)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8E8EE"/>
                          </a:solidFill>
                          <a:latin typeface="Apple SD Gothic Neo"/>
                        </a:rPr>
                        <a:t>32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8E8EE"/>
                          </a:solidFill>
                          <a:latin typeface="Apple SD Gothic Neo"/>
                        </a:rPr>
                        <a:t>53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8E8EE"/>
                          </a:solidFill>
                          <a:latin typeface="Apple SD Gothic Neo"/>
                        </a:rPr>
                        <a:t>10%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8E8EE"/>
                          </a:solidFill>
                          <a:latin typeface="Apple SD Gothic Neo"/>
                        </a:rPr>
                        <a:t>C  인위적 유기물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8E8EE"/>
                          </a:solidFill>
                          <a:latin typeface="Apple SD Gothic Neo"/>
                        </a:rPr>
                        <a:t>음식물, 배설물, 뼈, 껍데기, 숯 등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8E8EE"/>
                          </a:solidFill>
                          <a:latin typeface="Apple SD Gothic Neo"/>
                        </a:rPr>
                        <a:t>10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8E8EE"/>
                          </a:solidFill>
                          <a:latin typeface="Apple SD Gothic Neo"/>
                        </a:rPr>
                        <a:t>29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8E8EE"/>
                          </a:solidFill>
                          <a:latin typeface="Apple SD Gothic Neo"/>
                        </a:rPr>
                        <a:t>20%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8E8EE"/>
                          </a:solidFill>
                          <a:latin typeface="Apple SD Gothic Neo"/>
                        </a:rPr>
                        <a:t>N  자연 스톡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8E8EE"/>
                          </a:solidFill>
                          <a:latin typeface="Apple SD Gothic Neo"/>
                        </a:rPr>
                        <a:t>식물·동물. 흩뿌려지지 않고 줄어듦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8E8EE"/>
                          </a:solidFill>
                          <a:latin typeface="Apple SD Gothic Neo"/>
                        </a:rPr>
                        <a:t>18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8E8EE"/>
                          </a:solidFill>
                          <a:latin typeface="Apple SD Gothic Neo"/>
                        </a:rPr>
                        <a:t>30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8E8EE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FFF55"/>
                          </a:solidFill>
                          <a:latin typeface="Apple SD Gothic Neo"/>
                        </a:rPr>
                        <a:t>합계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8E8EE"/>
                          </a:solidFill>
                          <a:latin typeface="Apple SD Gothic Neo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FFF55"/>
                          </a:solidFill>
                          <a:latin typeface="Apple SD Gothic Neo"/>
                        </a:rPr>
                        <a:t>148 + 18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FFF55"/>
                          </a:solidFill>
                          <a:latin typeface="Apple SD Gothic Neo"/>
                        </a:rPr>
                        <a:t>290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8E8EE"/>
                          </a:solidFill>
                          <a:latin typeface="Apple SD Gothic Neo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754880"/>
            <a:ext cx="10911535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E8E8EE"/>
                </a:solidFill>
                <a:latin typeface="Apple SD Gothic Neo"/>
              </a:rPr>
              <a:t>•  품목 하나에 스프라이트 여러 개 — 같은 물건도 다양하게 보이도록. 재료가 아니라 '품목' 단위로 그림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E8E8EE"/>
                </a:solidFill>
                <a:latin typeface="Apple SD Gothic Neo"/>
              </a:rPr>
              <a:t>•  레이어 비율 70/10/20은 내가 제안한 값이며 아직 확정이 아님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E8E8EE"/>
                </a:solidFill>
                <a:latin typeface="Apple SD Gothic Neo"/>
              </a:rPr>
              <a:t>•  수치는 모두 추정(EST.), 재료별 지속성은 순위만 문헌 기반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9814255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9A9AAE"/>
                </a:solidFill>
                <a:latin typeface="Apple SD Gothic Neo"/>
              </a:rPr>
              <a:t>소스: docs/catalogue-v2.md, docs/data/catalogue-v2.json (생성기: tools/catalogue/gen_catalogue_v2.py)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55FFFF"/>
                </a:solidFill>
                <a:latin typeface="Apple SD Gothic Neo"/>
              </a:rPr>
              <a:t>04 ·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E8E8EE"/>
                </a:solidFill>
                <a:latin typeface="Apple SD Gothic Neo"/>
              </a:rPr>
              <a:t>학술 근거와 확인 수준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9A9AAE"/>
                </a:solidFill>
                <a:latin typeface="Apple SD Gothic Neo"/>
              </a:rP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10911534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645"/>
                <a:gridCol w="5501614"/>
                <a:gridCol w="3209275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55FFFF"/>
                          </a:solidFill>
                          <a:latin typeface="Apple SD Gothic Neo"/>
                        </a:rPr>
                        <a:t>설계 요소</a:t>
                      </a:r>
                    </a:p>
                  </a:txBody>
                  <a:tcPr marL="73152" marR="73152" marT="36576" marB="36576" anchor="ctr">
                    <a:solidFill>
                      <a:srgbClr val="1E1E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55FFFF"/>
                          </a:solidFill>
                          <a:latin typeface="Apple SD Gothic Neo"/>
                        </a:rPr>
                        <a:t>근거</a:t>
                      </a:r>
                    </a:p>
                  </a:txBody>
                  <a:tcPr marL="73152" marR="73152" marT="36576" marB="36576" anchor="ctr">
                    <a:solidFill>
                      <a:srgbClr val="1E1E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55FFFF"/>
                          </a:solidFill>
                          <a:latin typeface="Apple SD Gothic Neo"/>
                        </a:rPr>
                        <a:t>확인 수준</a:t>
                      </a:r>
                    </a:p>
                  </a:txBody>
                  <a:tcPr marL="73152" marR="73152" marT="36576" marB="36576" anchor="ctr">
                    <a:solidFill>
                      <a:srgbClr val="1E1E2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8E8EE"/>
                          </a:solidFill>
                          <a:latin typeface="Apple SD Gothic Neo"/>
                        </a:rPr>
                        <a:t>품목 빈도 (A)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8E8EE"/>
                          </a:solidFill>
                          <a:latin typeface="Apple SD Gothic Neo"/>
                        </a:rPr>
                        <a:t>JRC 2016 해변 쓰레기 Table A1 (유럽)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5FF55"/>
                          </a:solidFill>
                          <a:latin typeface="Apple SD Gothic Neo"/>
                        </a:rPr>
                        <a:t>PDF에서 표를 직접 추출해 사용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8E8EE"/>
                          </a:solidFill>
                          <a:latin typeface="Apple SD Gothic Neo"/>
                        </a:rPr>
                        <a:t>동물·식물 감소 비율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8E8EE"/>
                          </a:solidFill>
                          <a:latin typeface="Apple SD Gothic Neo"/>
                        </a:rPr>
                        <a:t>Bar-On et al. 2018, PNAS: 식물 ≈ 1/2, 야생 포유류 ≈ 1/6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5FF55"/>
                          </a:solidFill>
                          <a:latin typeface="Apple SD Gothic Neo"/>
                        </a:rPr>
                        <a:t>전문 확인 (PMC)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8E8EE"/>
                          </a:solidFill>
                          <a:latin typeface="Apple SD Gothic Neo"/>
                        </a:rPr>
                        <a:t>식물 마모 곡선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8E8EE"/>
                          </a:solidFill>
                          <a:latin typeface="Apple SD Gothic Neo"/>
                        </a:rPr>
                        <a:t>Cole 1995, J. Applied Ecology: 약 50회 통과 ≈ 식생 50% 감소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55"/>
                          </a:solidFill>
                          <a:latin typeface="Apple SD Gothic Neo"/>
                        </a:rPr>
                        <a:t>서지만 확인, 수치는 검색 요약 [S]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8E8EE"/>
                          </a:solidFill>
                          <a:latin typeface="Apple SD Gothic Neo"/>
                        </a:rPr>
                        <a:t>재료 지속성·화석화 순위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8E8EE"/>
                          </a:solidFill>
                          <a:latin typeface="Apple SD Gothic Neo"/>
                        </a:rPr>
                        <a:t>테크노포실 문헌 (Zalasiewicz 외)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55"/>
                          </a:solidFill>
                          <a:latin typeface="Apple SD Gothic Neo"/>
                        </a:rPr>
                        <a:t>순위만 문헌 기반, 수치는 추정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8E8EE"/>
                          </a:solidFill>
                          <a:latin typeface="Apple SD Gothic Neo"/>
                        </a:rPr>
                        <a:t>이웃 영향 추첨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8E8EE"/>
                          </a:solidFill>
                          <a:latin typeface="Apple SD Gothic Neo"/>
                        </a:rPr>
                        <a:t>Pólya urn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5FF55"/>
                          </a:solidFill>
                          <a:latin typeface="Apple SD Gothic Neo"/>
                        </a:rPr>
                        <a:t>근거 문서 작성 (inheritance-rationale)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120640"/>
            <a:ext cx="10911535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자연 스톡 보정: 기준 하중(칸당 약 50회 통과)에서 식물 생존 59%, 동물 17% — 테스트로 검증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Bar-On 저자들도 '인류 이전 값은 거친 첫 근사'라고 밝힘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9814255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9A9AAE"/>
                </a:solidFill>
                <a:latin typeface="Apple SD Gothic Neo"/>
              </a:rPr>
              <a:t>[S] = 검색 요약만 확인. 검색 요약은 원문과 다른 경우가 있어 라이브 확인이 필요함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55FFFF"/>
                </a:solidFill>
                <a:latin typeface="Apple SD Gothic Neo"/>
              </a:rPr>
              <a:t>05 ·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E8E8EE"/>
                </a:solidFill>
                <a:latin typeface="Apple SD Gothic Neo"/>
              </a:rPr>
              <a:t>코드와 문서로 구축한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9A9AAE"/>
                </a:solidFill>
                <a:latin typeface="Apple SD Gothic Neo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94960" cy="2240280"/>
          </a:xfrm>
          <a:prstGeom prst="roundRect">
            <a:avLst>
              <a:gd name="adj" fmla="val 4000"/>
            </a:avLst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64207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55FFFF"/>
                </a:solidFill>
                <a:latin typeface="Apple SD Gothic Neo"/>
              </a:rPr>
              <a:t>lib/stratum (결정론적 라이브러리)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084831"/>
            <a:ext cx="5029200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재료 26종, 품목 148 + 자연 18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추첨 · 운명 · 자연 스톡 · 로그 시계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GroundStore: 칸별 타임라인 (증분 계산)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30952" cy="2240280"/>
          </a:xfrm>
          <a:prstGeom prst="roundRect">
            <a:avLst>
              <a:gd name="adj" fmla="val 4000"/>
            </a:avLst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64207"/>
            <a:ext cx="496519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55FF55"/>
                </a:solidFill>
                <a:latin typeface="Apple SD Gothic Neo"/>
              </a:rPr>
              <a:t>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84831"/>
            <a:ext cx="4965192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테스트 63개 통과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카탈로그 생성기를 다시 돌려도 원본 데이터가 변하지 않음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tsc: 새 오류 없음 (기존 11건은 SideView·TimespaceView)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77639"/>
            <a:ext cx="5394960" cy="2148840"/>
          </a:xfrm>
          <a:prstGeom prst="roundRect">
            <a:avLst>
              <a:gd name="adj" fmla="val 4000"/>
            </a:avLst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4087368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55"/>
                </a:solidFill>
                <a:latin typeface="Apple SD Gothic Neo"/>
              </a:rPr>
              <a:t>문서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507992"/>
            <a:ext cx="5029200" cy="1508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scatter-catalogue / catalogue-v2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inheritance-rationale (이웃 영향의 근거)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performance (비용 모델 + 서버 설계)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sprite-sources-and-pipeline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77639"/>
            <a:ext cx="5330952" cy="2148840"/>
          </a:xfrm>
          <a:prstGeom prst="roundRect">
            <a:avLst>
              <a:gd name="adj" fmla="val 4000"/>
            </a:avLst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087368"/>
            <a:ext cx="496519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5555"/>
                </a:solidFill>
                <a:latin typeface="Apple SD Gothic Neo"/>
              </a:rPr>
              <a:t>정리한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507992"/>
            <a:ext cx="4965192" cy="1508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별 · 중력 · 병합 · 배경 별 제거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태양풍 · 파도 · NOAA API 제거 (바닥은 평평)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옛 별 코드는 archive/spacetime-stars 에 보존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55FFFF"/>
                </a:solidFill>
                <a:latin typeface="Apple SD Gothic Neo"/>
              </a:rPr>
              <a:t>06 ·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E8E8EE"/>
                </a:solidFill>
                <a:latin typeface="Apple SD Gothic Neo"/>
              </a:rPr>
              <a:t>성능 대응과 전시 서버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9A9AAE"/>
                </a:solidFill>
                <a:latin typeface="Apple SD Gothic Neo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64207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55FFFF"/>
                </a:solidFill>
                <a:latin typeface="Apple SD Gothic Neo"/>
              </a:rPr>
              <a:t>지금까지 한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084831"/>
            <a:ext cx="50292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전체 재계산 → 내 주변(반경 24)만 0.5초마다 증분 계산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localStorage 쓰기를 3초마다·변경 시에만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Node 측정: 전체 계산 약 7ms → 반경 계산 약 5ms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30952" cy="2743200"/>
          </a:xfrm>
          <a:prstGeom prst="roundRect">
            <a:avLst>
              <a:gd name="adj" fmla="val 4000"/>
            </a:avLst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64207"/>
            <a:ext cx="496519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55"/>
                </a:solidFill>
                <a:latin typeface="Apple SD Gothic Neo"/>
              </a:rPr>
              <a:t>전시 서버 (미구현 설계)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84831"/>
            <a:ext cx="496519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서버가 권위를 갖고 칸별 타임라인 보관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폰에는 주변 칸의 변경분만 전송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탑뷰·사이드뷰에는 집계값만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사라진 물건도 시간 기록은 유지 (다른 물건을 묻고 마모시킴)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모든 결과가 해시에서 나오므로 클라이언트가 재계산 가능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526280"/>
            <a:ext cx="10911535" cy="155448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617720"/>
            <a:ext cx="10454335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5555"/>
                </a:solidFill>
                <a:latin typeface="Apple SD Gothic Neo"/>
              </a:rPr>
              <a:t>한계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E8E8EE"/>
                </a:solidFill>
                <a:latin typeface="Apple SD Gothic Neo"/>
              </a:rPr>
              <a:t>측정은 데스크톱 Node에서만 했고 폰에서는 확인하지 못했다.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E8E8EE"/>
                </a:solidFill>
                <a:latin typeface="Apple SD Gothic Neo"/>
              </a:rPr>
              <a:t>버퍼링이 남는다면 원인은 Bloom·Vignette·플레이어 오브 등 다른 곳일 수 있다 (미확인).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55FFFF"/>
                </a:solidFill>
                <a:latin typeface="Apple SD Gothic Neo"/>
              </a:rPr>
              <a:t>07 · IMAGE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E8E8EE"/>
                </a:solidFill>
                <a:latin typeface="Apple SD Gothic Neo"/>
              </a:rPr>
              <a:t>이미지 소스 조사 ① 정적 라이브러리 — 권장 조합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9A9AAE"/>
                </a:solidFill>
                <a:latin typeface="Apple SD Gothic Neo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08760"/>
          <a:ext cx="10911533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2364165"/>
                <a:gridCol w="1636730"/>
                <a:gridCol w="418275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55FFFF"/>
                          </a:solidFill>
                          <a:latin typeface="Apple SD Gothic Neo"/>
                        </a:rPr>
                        <a:t>소스</a:t>
                      </a:r>
                    </a:p>
                  </a:txBody>
                  <a:tcPr marL="73152" marR="73152" marT="36576" marB="36576" anchor="ctr">
                    <a:solidFill>
                      <a:srgbClr val="1E1E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55FFFF"/>
                          </a:solidFill>
                          <a:latin typeface="Apple SD Gothic Neo"/>
                        </a:rPr>
                        <a:t>라이선스</a:t>
                      </a:r>
                    </a:p>
                  </a:txBody>
                  <a:tcPr marL="73152" marR="73152" marT="36576" marB="36576" anchor="ctr">
                    <a:solidFill>
                      <a:srgbClr val="1E1E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55FFFF"/>
                          </a:solidFill>
                          <a:latin typeface="Apple SD Gothic Neo"/>
                        </a:rPr>
                        <a:t>잠재량</a:t>
                      </a:r>
                    </a:p>
                  </a:txBody>
                  <a:tcPr marL="73152" marR="73152" marT="36576" marB="36576" anchor="ctr">
                    <a:solidFill>
                      <a:srgbClr val="1E1E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55FFFF"/>
                          </a:solidFill>
                          <a:latin typeface="Apple SD Gothic Neo"/>
                        </a:rPr>
                        <a:t>비고</a:t>
                      </a:r>
                    </a:p>
                  </a:txBody>
                  <a:tcPr marL="73152" marR="73152" marT="36576" marB="36576" anchor="ctr">
                    <a:solidFill>
                      <a:srgbClr val="1E1E2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Quick, Draw!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CC BY 4.0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300+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28×28 원본. 같은 물건의 변형이 수천 개 — 다양성에 최적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game-icons.net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CC BY 3.0 (일부 CC0)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300–400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4,133 SVG. 작가별 크레딧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DCSS tiles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CC0 (미승인 목록 제외)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150–300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32×32 픽셀. 음식·동물·뼈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Fluent + Noto + Twemoji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MIT / Apache / CC BY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스타일당 150–250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같은 물건을 3가지 스타일로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Smithsonian Open Access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CC0 (표시 항목) [S]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200–500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옛 전자제품, 조개·뼈 실물 사진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TrashNet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MIT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100–300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흰 판 위 폐기물. 배경 제거 쉬움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Openclipart + Health Icons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CC0 [S] / MIT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150–300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범위 넓음. 출처 점검 필요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3D 렌더 (GSO, ABO, Poly Haven 등)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CC BY 4.0 / CC0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수천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여러 각도 렌더로 변형 확보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715000"/>
            <a:ext cx="10911535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1~4번만으로도 목표 290개에 근접. 크레딧은 빌드 때 CREDITS.md 자동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9814255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9A9AAE"/>
                </a:solidFill>
                <a:latin typeface="Apple SD Gothic Neo"/>
              </a:rPr>
              <a:t>조사 환경에서 GitHub 외 다수 사이트가 접근 차단 → [S]는 검색 요약만 확인. 라이브 재확인 항목은 문서 §4에 정리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55FFFF"/>
                </a:solidFill>
                <a:latin typeface="Apple SD Gothic Neo"/>
              </a:rPr>
              <a:t>08 · PIPELINE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E8E8EE"/>
                </a:solidFill>
                <a:latin typeface="Apple SD Gothic Neo"/>
              </a:rPr>
              <a:t>이미지 소스 조사 ② 검색어 → 최신 이미지 → 픽셀 스프라이트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9A9AAE"/>
                </a:solidFill>
                <a:latin typeface="Apple SD Gothic Neo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650949" cy="105156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55FFFF"/>
                </a:solidFill>
                <a:latin typeface="Apple SD Gothic Neo"/>
              </a:rPr>
              <a:t>스케줄러</a:t>
            </a:r>
          </a:p>
          <a:p>
            <a:pPr algn="ctr"/>
            <a:r>
              <a:rPr sz="1000" b="0">
                <a:solidFill>
                  <a:srgbClr val="9A9AAE"/>
                </a:solidFill>
                <a:latin typeface="Apple SD Gothic Neo"/>
              </a:rPr>
              <a:t>GitHub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91029" y="1897379"/>
            <a:ext cx="201168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9A9AAE"/>
                </a:solidFill>
                <a:latin typeface="Apple SD Gothic Neo"/>
              </a:rPr>
              <a:t>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92197" y="1554480"/>
            <a:ext cx="1650949" cy="105156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55FFFF"/>
                </a:solidFill>
                <a:latin typeface="Apple SD Gothic Neo"/>
              </a:rPr>
              <a:t>검색</a:t>
            </a:r>
          </a:p>
          <a:p>
            <a:pPr algn="ctr"/>
            <a:r>
              <a:rPr sz="1000" b="0">
                <a:solidFill>
                  <a:srgbClr val="9A9AAE"/>
                </a:solidFill>
                <a:latin typeface="Apple SD Gothic Neo"/>
              </a:rPr>
              <a:t>Commons 우선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43146" y="1897379"/>
            <a:ext cx="201168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9A9AAE"/>
                </a:solidFill>
                <a:latin typeface="Apple SD Gothic Neo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4314" y="1554480"/>
            <a:ext cx="1650949" cy="105156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55FFFF"/>
                </a:solidFill>
                <a:latin typeface="Apple SD Gothic Neo"/>
              </a:rPr>
              <a:t>필터</a:t>
            </a:r>
          </a:p>
          <a:p>
            <a:pPr algn="ctr"/>
            <a:r>
              <a:rPr sz="1000" b="0">
                <a:solidFill>
                  <a:srgbClr val="9A9AAE"/>
                </a:solidFill>
                <a:latin typeface="Apple SD Gothic Neo"/>
              </a:rPr>
              <a:t>사람·글자·로고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5263" y="1897379"/>
            <a:ext cx="201168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9A9AAE"/>
                </a:solidFill>
                <a:latin typeface="Apple SD Gothic Neo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6431" y="1554480"/>
            <a:ext cx="1650949" cy="105156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55FFFF"/>
                </a:solidFill>
                <a:latin typeface="Apple SD Gothic Neo"/>
              </a:rPr>
              <a:t>배경 제거</a:t>
            </a:r>
          </a:p>
          <a:p>
            <a:pPr algn="ctr"/>
            <a:r>
              <a:rPr sz="1000" b="0">
                <a:solidFill>
                  <a:srgbClr val="9A9AAE"/>
                </a:solidFill>
                <a:latin typeface="Apple SD Gothic Neo"/>
              </a:rPr>
              <a:t>rembg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7380" y="1897379"/>
            <a:ext cx="201168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9A9AAE"/>
                </a:solidFill>
                <a:latin typeface="Apple SD Gothic Neo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554480"/>
            <a:ext cx="1650949" cy="105156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55FFFF"/>
                </a:solidFill>
                <a:latin typeface="Apple SD Gothic Neo"/>
              </a:rPr>
              <a:t>16색 스프라이트</a:t>
            </a:r>
          </a:p>
          <a:p>
            <a:pPr algn="ctr"/>
            <a:r>
              <a:rPr sz="1000" b="0">
                <a:solidFill>
                  <a:srgbClr val="9A9AAE"/>
                </a:solidFill>
                <a:latin typeface="Apple SD Gothic Neo"/>
              </a:rPr>
              <a:t>Pillow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9498" y="1897379"/>
            <a:ext cx="201168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9A9AAE"/>
                </a:solidFill>
                <a:latin typeface="Apple SD Gothic Neo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00666" y="1554480"/>
            <a:ext cx="1650949" cy="105156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55FFFF"/>
                </a:solidFill>
                <a:latin typeface="Apple SD Gothic Neo"/>
              </a:rPr>
              <a:t>저장</a:t>
            </a:r>
          </a:p>
          <a:p>
            <a:pPr algn="ctr"/>
            <a:r>
              <a:rPr sz="1000" b="0">
                <a:solidFill>
                  <a:srgbClr val="9A9AAE"/>
                </a:solidFill>
                <a:latin typeface="Apple SD Gothic Neo"/>
              </a:rPr>
              <a:t>+ 출처 JSON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26080"/>
            <a:ext cx="3474720" cy="3200400"/>
          </a:xfrm>
          <a:prstGeom prst="roundRect">
            <a:avLst>
              <a:gd name="adj" fmla="val 4000"/>
            </a:avLst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035808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55FFFF"/>
                </a:solidFill>
                <a:latin typeface="Apple SD Gothic Neo"/>
              </a:rPr>
              <a:t>필터 / 품질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456432"/>
            <a:ext cx="3108960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E8E8EE"/>
                </a:solidFill>
                <a:latin typeface="Apple SD Gothic Neo"/>
              </a:rPr>
              <a:t>•  사람·얼굴, 텍스트, 워터마크, 로고, NSFW 제외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E8E8EE"/>
                </a:solidFill>
                <a:latin typeface="Apple SD Gothic Neo"/>
              </a:rPr>
              <a:t>•  피사체 면적 15–85%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E8E8EE"/>
                </a:solidFill>
                <a:latin typeface="Apple SD Gothic Neo"/>
              </a:rPr>
              <a:t>•  CLIP 유사도로 '그 물건이 맞는지' 확인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E8E8EE"/>
                </a:solidFill>
                <a:latin typeface="Apple SD Gothic Neo"/>
              </a:rPr>
              <a:t>•  원본·스프라이트 해시로 중복 제거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2926080"/>
            <a:ext cx="3474720" cy="3200400"/>
          </a:xfrm>
          <a:prstGeom prst="roundRect">
            <a:avLst>
              <a:gd name="adj" fmla="val 4000"/>
            </a:avLst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035808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55"/>
                </a:solidFill>
                <a:latin typeface="Apple SD Gothic Neo"/>
              </a:rPr>
              <a:t>시각 일관성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456432"/>
            <a:ext cx="3108960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E8E8EE"/>
                </a:solidFill>
                <a:latin typeface="Apple SD Gothic Neo"/>
              </a:rPr>
              <a:t>•  32×32 고정, 정사각 크롭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E8E8EE"/>
                </a:solidFill>
                <a:latin typeface="Apple SD Gothic Neo"/>
              </a:rPr>
              <a:t>•  TempleOS 16색, 디더 없음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E8E8EE"/>
                </a:solidFill>
                <a:latin typeface="Apple SD Gothic Neo"/>
              </a:rPr>
              <a:t>•  1px 검정 외곽선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E8E8EE"/>
                </a:solidFill>
                <a:latin typeface="Apple SD Gothic Neo"/>
              </a:rPr>
              <a:t>•  양자화 전 자동 대비·채도 보정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9" y="2926080"/>
            <a:ext cx="3502152" cy="3200400"/>
          </a:xfrm>
          <a:prstGeom prst="roundRect">
            <a:avLst>
              <a:gd name="adj" fmla="val 4000"/>
            </a:avLst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9" y="3035808"/>
            <a:ext cx="313639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55FF55"/>
                </a:solidFill>
                <a:latin typeface="Apple SD Gothic Neo"/>
              </a:rPr>
              <a:t>저장 / 버전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9" y="3456432"/>
            <a:ext cx="3136392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E8E8EE"/>
                </a:solidFill>
                <a:latin typeface="Apple SD Gothic Neo"/>
              </a:rPr>
              <a:t>•  저장소 파일 + atlas.json (선택: R2 미러)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E8E8EE"/>
                </a:solidFill>
                <a:latin typeface="Apple SD Gothic Neo"/>
              </a:rPr>
              <a:t>•  epoch 단위로 쌓음 — 옛 이미지가 퇴적층처럼 남음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E8E8EE"/>
                </a:solidFill>
                <a:latin typeface="Apple SD Gothic Neo"/>
              </a:rPr>
              <a:t>•  원본은 보관하지 않음. 출처 JSON만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E8E8EE"/>
                </a:solidFill>
                <a:latin typeface="Apple SD Gothic Neo"/>
              </a:rPr>
              <a:t>•  삭제 요청 경로 + 라이선스 재검증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55080"/>
            <a:ext cx="9814255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9A9AAE"/>
                </a:solidFill>
                <a:latin typeface="Apple SD Gothic Neo"/>
              </a:rPr>
              <a:t>Pillow 샘플 코드는 아직 실행해 보지 못함. 파이프라인은 계획 단계이며 구현 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55FFFF"/>
                </a:solidFill>
                <a:latin typeface="Apple SD Gothic Neo"/>
              </a:rPr>
              <a:t>09 ·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E8E8EE"/>
                </a:solidFill>
                <a:latin typeface="Apple SD Gothic Neo"/>
              </a:rPr>
              <a:t>찾아본 것들의 제약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9A9AAE"/>
                </a:solidFill>
                <a:latin typeface="Apple SD Gothic Neo"/>
              </a:rP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911533" cy="4828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6624860"/>
                <a:gridCol w="155879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55FFFF"/>
                          </a:solidFill>
                          <a:latin typeface="Apple SD Gothic Neo"/>
                        </a:rPr>
                        <a:t>대상</a:t>
                      </a:r>
                    </a:p>
                  </a:txBody>
                  <a:tcPr marL="73152" marR="73152" marT="36576" marB="36576" anchor="ctr">
                    <a:solidFill>
                      <a:srgbClr val="1E1E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55FFFF"/>
                          </a:solidFill>
                          <a:latin typeface="Apple SD Gothic Neo"/>
                        </a:rPr>
                        <a:t>상태 / 제약</a:t>
                      </a:r>
                    </a:p>
                  </a:txBody>
                  <a:tcPr marL="73152" marR="73152" marT="36576" marB="36576" anchor="ctr">
                    <a:solidFill>
                      <a:srgbClr val="1E1E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55FFFF"/>
                          </a:solidFill>
                          <a:latin typeface="Apple SD Gothic Neo"/>
                        </a:rPr>
                        <a:t>판단</a:t>
                      </a:r>
                    </a:p>
                  </a:txBody>
                  <a:tcPr marL="73152" marR="73152" marT="36576" marB="36576" anchor="ctr">
                    <a:solidFill>
                      <a:srgbClr val="1E1E2E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Google Custom Search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신규 가입 차단, 기존 고객도 2027-01-01 종료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F5555"/>
                          </a:solidFill>
                          <a:latin typeface="Apple SD Gothic Neo"/>
                        </a:rPr>
                        <a:t>불가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Bing Image Search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2025-08 종료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F5555"/>
                          </a:solidFill>
                          <a:latin typeface="Apple SD Gothic Neo"/>
                        </a:rPr>
                        <a:t>불가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Brave Search API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유료. 저장·ML 이용은 'Storage Rights' 별도 계약, 날짜순 정렬 없음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FFF55"/>
                          </a:solidFill>
                          <a:latin typeface="Apple SD Gothic Neo"/>
                        </a:rPr>
                        <a:t>조건부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SerpApi 등 스크래핑 중개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Google이 DMCA 소송 중. 이미지 저작권은 어차피 미해결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F5555"/>
                          </a:solidFill>
                          <a:latin typeface="Apple SD Gothic Neo"/>
                        </a:rPr>
                        <a:t>회피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Wikimedia Commons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키 불필요, 최신순 가능, 파일별 라이선스 표기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5FF55"/>
                          </a:solidFill>
                          <a:latin typeface="Apple SD Gothic Neo"/>
                        </a:rPr>
                        <a:t>1순위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Openverse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정렬 파라미터가 unstable, '색인일' 기준 (업로드일 아님)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FFF55"/>
                          </a:solidFill>
                          <a:latin typeface="Apple SD Gothic Neo"/>
                        </a:rPr>
                        <a:t>보조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Flickr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'합리적 기간만 캐시' 취지의 약관 → 영구 보관과 충돌 소지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FFF55"/>
                          </a:solidFill>
                          <a:latin typeface="Apple SD Gothic Neo"/>
                        </a:rPr>
                        <a:t>약관 확인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iNaturalist / GBIF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생물 사진만 (병·휴대폰은 불가)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FFF55"/>
                          </a:solidFill>
                          <a:latin typeface="Apple SD Gothic Neo"/>
                        </a:rPr>
                        <a:t>보조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Unsplash / Pexels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저장 금지·데이터셋 금지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F5555"/>
                          </a:solidFill>
                          <a:latin typeface="Apple SD Gothic Neo"/>
                        </a:rPr>
                        <a:t>제외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SA·NC·ND 이미지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ShareAlike는 결과물에 같은 라이선스를 강제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F5555"/>
                          </a:solidFill>
                          <a:latin typeface="Apple SD Gothic Neo"/>
                        </a:rPr>
                        <a:t>제외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355080"/>
            <a:ext cx="9814255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9A9AAE"/>
                </a:solidFill>
                <a:latin typeface="Apple SD Gothic Neo"/>
              </a:rPr>
              <a:t>대부분 검색 요약 기반 [S]. 법률 자문 아님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55FFFF"/>
                </a:solidFill>
                <a:latin typeface="Apple SD Gothic Neo"/>
              </a:rPr>
              <a:t>10 · LEGAL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E8E8EE"/>
                </a:solidFill>
                <a:latin typeface="Apple SD Gothic Neo"/>
              </a:rPr>
              <a:t>법적 쟁점: 픽셀화해도 원본의 개작이다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9A9AAE"/>
                </a:solidFill>
                <a:latin typeface="Apple SD Gothic Neo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94960" cy="2926080"/>
          </a:xfrm>
          <a:prstGeom prst="roundRect">
            <a:avLst>
              <a:gd name="adj" fmla="val 4000"/>
            </a:avLst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64207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55FF55"/>
                </a:solidFill>
                <a:latin typeface="Apple SD Gothic Neo"/>
              </a:rPr>
              <a:t>비교적 분명한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084831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축소·픽셀화한 복사본도 복제/개작 → CC BY는 크레딧·변경 표기 필요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CC0 / 퍼블릭 도메인은 허락 불필요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사람 얼굴(초상권·GDPR), 상표·로고는 별개 문제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공개 GitHub에 올리면 누구나 재배포 가능 → 파일별 라이선스 필요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30952" cy="2926080"/>
          </a:xfrm>
          <a:prstGeom prst="roundRect">
            <a:avLst>
              <a:gd name="adj" fmla="val 4000"/>
            </a:avLst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64207"/>
            <a:ext cx="496519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55"/>
                </a:solidFill>
                <a:latin typeface="Apple SD Gothic Neo"/>
              </a:rPr>
              <a:t>불확실한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84831"/>
            <a:ext cx="4965192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32×32 16색이 '복제'인지 — 의존하지 않음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EU TDM 예외는 분석용이지 변환본 전시 권한이 아님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CJEU Pelham II의 패스티시는 '원작과의 대화'가 필요 → 약한 논거 [S]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한국 저작권법 제35조의5 공정이용: 픽셀화 썸네일 판례는 확인 못함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09160"/>
            <a:ext cx="10911535" cy="13716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800600"/>
            <a:ext cx="10454335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5555"/>
                </a:solidFill>
                <a:latin typeface="Apple SD Gothic Neo"/>
              </a:rPr>
              <a:t>정정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E8E8EE"/>
                </a:solidFill>
                <a:latin typeface="Apple SD Gothic Neo"/>
              </a:rPr>
              <a:t>TACO 데이터셋은 CC BY 4.0이 아니다. 원본 주석을 읽어보니 이미지별로 라이선스가 섞여 있다 (없음 715장, ODbL 466장, 'CC' 319장). 사진을 저장소에 넣지 않는다.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9814255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9A9AAE"/>
                </a:solidFill>
                <a:latin typeface="Apple SD Gothic Neo"/>
              </a:rPr>
              <a:t>전시 전에 한국·EU 법률 자문을 따로 받아야 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55FFFF"/>
                </a:solidFill>
                <a:latin typeface="Apple SD Gothic Neo"/>
              </a:rPr>
              <a:t>11 ·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E8E8EE"/>
                </a:solidFill>
                <a:latin typeface="Apple SD Gothic Neo"/>
              </a:rPr>
              <a:t>두 가지 설계안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9A9AAE"/>
                </a:solidFill>
                <a:latin typeface="Apple SD Gothic Neo"/>
              </a:rP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10911533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5800"/>
                <a:gridCol w="4819261"/>
                <a:gridCol w="4546472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55FFFF"/>
                          </a:solidFill>
                          <a:latin typeface="Apple SD Gothic Neo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1E1E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55FFFF"/>
                          </a:solidFill>
                          <a:latin typeface="Apple SD Gothic Neo"/>
                        </a:rPr>
                        <a:t>A. 자유 이용 이미지만 (권장)</a:t>
                      </a:r>
                    </a:p>
                  </a:txBody>
                  <a:tcPr marL="73152" marR="73152" marT="36576" marB="36576" anchor="ctr">
                    <a:solidFill>
                      <a:srgbClr val="1E1E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55FFFF"/>
                          </a:solidFill>
                          <a:latin typeface="Apple SD Gothic Neo"/>
                        </a:rPr>
                        <a:t>B. A + Brave 오픈 웹</a:t>
                      </a:r>
                    </a:p>
                  </a:txBody>
                  <a:tcPr marL="73152" marR="73152" marT="36576" marB="36576" anchor="ctr">
                    <a:solidFill>
                      <a:srgbClr val="1E1E2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출처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Commons, Flickr, iNaturalist/GBIF, Openverse (CC0·PDM·CC-BY)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A + Brave 이미지 검색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작품 문장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"세계가 가장 최근에 올린 자유 이용 가능한 이미지"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"웹의 최신 이미지"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법적 위험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5FF55"/>
                          </a:solidFill>
                          <a:latin typeface="Apple SD Gothic Neo"/>
                        </a:rPr>
                        <a:t>낮음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F5555"/>
                          </a:solidFill>
                          <a:latin typeface="Apple SD Gothic Neo"/>
                        </a:rPr>
                        <a:t>높음 — 이미지 저작권 미해결 + 저장 권리는 유료 계약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개념 충실도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중상. 드문 검색어는 후보 간격이 며칠~몇 주 → 그 자체가 하나의 진술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높음. 단 날짜순이 없어 '최신'은 근사값</a:t>
                      </a:r>
                    </a:p>
                  </a:txBody>
                  <a:tcPr marL="73152" marR="73152" marT="36576" marB="36576" anchor="ctr">
                    <a:solidFill>
                      <a:srgbClr val="0A0A1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상태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바로 만들 수 있음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8E8EE"/>
                          </a:solidFill>
                          <a:latin typeface="Apple SD Gothic Neo"/>
                        </a:rPr>
                        <a:t>변호사 검토 전에는 비권장. 전시장 내부 한정 등 완화책 필요</a:t>
                      </a:r>
                    </a:p>
                  </a:txBody>
                  <a:tcPr marL="73152" marR="73152" marT="36576" marB="36576" anchor="ctr">
                    <a:solidFill>
                      <a:srgbClr val="16162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E8E8EE"/>
                </a:solidFill>
                <a:latin typeface="Apple SD Gothic Neo"/>
              </a:rPr>
              <a:t>•  정적 라이브러리만으로 290개를 채울 수 있으므로, 동적 수집은 그 위에 얹는 층으로 볼 수 있음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55FFFF"/>
                </a:solidFill>
                <a:latin typeface="Apple SD Gothic Neo"/>
              </a:rPr>
              <a:t>12 ·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E8E8EE"/>
                </a:solidFill>
                <a:latin typeface="Apple SD Gothic Neo"/>
              </a:rPr>
              <a:t>진행 현황과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9A9AAE"/>
                </a:solidFill>
                <a:latin typeface="Apple SD Gothic Neo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474720" cy="4526280"/>
          </a:xfrm>
          <a:prstGeom prst="roundRect">
            <a:avLst>
              <a:gd name="adj" fmla="val 4000"/>
            </a:avLst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64207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55FF55"/>
                </a:solidFill>
                <a:latin typeface="Apple SD Gothic Neo"/>
              </a:rPr>
              <a:t>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084831"/>
            <a:ext cx="3108960" cy="3886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방향 전환, 별·태양풍·파도 제거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카탈로그 v2 (148 + 18 품목, 스프라이트 290 목표)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추첨 · 운명 · 자연 스톡 라이브러리, 테스트 63개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학술 근거 정리 (일부 [S])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성능 개선 1차, 서버 설계안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이미지 소스·API·법적 조사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474720" cy="4526280"/>
          </a:xfrm>
          <a:prstGeom prst="roundRect">
            <a:avLst>
              <a:gd name="adj" fmla="val 4000"/>
            </a:avLst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64207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5555"/>
                </a:solidFill>
                <a:latin typeface="Apple SD Gothic Neo"/>
              </a:rPr>
              <a:t>아직 안 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084831"/>
            <a:ext cx="3108960" cy="3886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스프라이트 이미지 제작 (0 / 290)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저해상도 렌더 + 16색 팔레트 셰이더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칩 사운드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옆·위·시공간 뷰 재연결 (현재 데이터가 비어 있음)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수명·퇴장 (10초~3분 랜덤) — 보류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이미지 수집 파이프라인 (계획만)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554480"/>
            <a:ext cx="3502152" cy="4526280"/>
          </a:xfrm>
          <a:prstGeom prst="roundRect">
            <a:avLst>
              <a:gd name="adj" fmla="val 4000"/>
            </a:avLst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9" y="1664207"/>
            <a:ext cx="313639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55"/>
                </a:solidFill>
                <a:latin typeface="Apple SD Gothic Neo"/>
              </a:rPr>
              <a:t>다음 순서 (제안)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9" y="2084831"/>
            <a:ext cx="3136392" cy="3886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1. 저해상도 렌더 + 팔레트 셰이더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2. 정적 소스로 스프라이트 첫 묶음 제작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3. 크레딧 자동 생성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4. 뷰 재연결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5. 동적 수집 프로토타입 (Commons 한정)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E8EE"/>
                </a:solidFill>
                <a:latin typeface="Apple SD Gothic Neo"/>
              </a:rPr>
              <a:t>•  6. 칩 사운드, 수명·퇴장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55FFFF"/>
                </a:solidFill>
                <a:latin typeface="Apple SD Gothic Neo"/>
              </a:rPr>
              <a:t>13 ·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E8E8EE"/>
                </a:solidFill>
                <a:latin typeface="Apple SD Gothic Neo"/>
              </a:rPr>
              <a:t>미팅에서 정하고 싶은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9A9AAE"/>
                </a:solidFill>
                <a:latin typeface="Apple SD Gothic Neo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4572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E8E8EE"/>
                </a:solidFill>
                <a:latin typeface="Apple SD Gothic Neo"/>
              </a:rPr>
              <a:t>•  개념 문장을 "자유 이용 가능한 최신 이미지"로 받아들일 수 있는가? 오픈 웹 전체가 꼭 필요한가?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E8E8EE"/>
                </a:solidFill>
                <a:latin typeface="Apple SD Gothic Neo"/>
              </a:rPr>
              <a:t>•  정적 라이브러리를 기본 층, 동적 수집을 그 위의 층으로 가도 되는가?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E8E8EE"/>
                </a:solidFill>
                <a:latin typeface="Apple SD Gothic Neo"/>
              </a:rPr>
              <a:t>•  동적 수집의 범위: 290개 전부인가, 대표 품목 일부인가?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E8E8EE"/>
                </a:solidFill>
                <a:latin typeface="Apple SD Gothic Neo"/>
              </a:rPr>
              <a:t>•  크레딧 표시: 캔버스에는 텍스트를 넣지 않으므로 별도 페이지에만 둘 것인가?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E8E8EE"/>
                </a:solidFill>
                <a:latin typeface="Apple SD Gothic Neo"/>
              </a:rPr>
              <a:t>•  전시 전 한국·EU 법률 자문을 받을 수 있는가?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E8E8EE"/>
                </a:solidFill>
                <a:latin typeface="Apple SD Gothic Neo"/>
              </a:rPr>
              <a:t>•  열린 파라미터: 레이어 비율(A 70 / B 10 / C 20), 자연 스톡 규모, 회차마다 초기화할지 여부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E8E8EE"/>
                </a:solidFill>
                <a:latin typeface="Apple SD Gothic Neo"/>
              </a:rPr>
              <a:t>•  수치를 문헌에 어떻게 보정할지 (지금은 순위만 문헌 기반, 수치는 추정)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